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7E7F5-354F-4AF2-9DFB-FBC3098DBFC6}" v="31" dt="2026-04-19T22:31:55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ómez Azor" userId="8d7a26f6-b332-4d2d-b38c-a9f02fca3bc6" providerId="ADAL" clId="{77C77053-29B6-4368-A5A2-5E44837E8307}"/>
    <pc:docChg chg="undo custSel modSld">
      <pc:chgData name="Jorge Gómez Azor" userId="8d7a26f6-b332-4d2d-b38c-a9f02fca3bc6" providerId="ADAL" clId="{77C77053-29B6-4368-A5A2-5E44837E8307}" dt="2026-04-19T22:31:55.353" v="30" actId="12789"/>
      <pc:docMkLst>
        <pc:docMk/>
      </pc:docMkLst>
      <pc:sldChg chg="modSp mod">
        <pc:chgData name="Jorge Gómez Azor" userId="8d7a26f6-b332-4d2d-b38c-a9f02fca3bc6" providerId="ADAL" clId="{77C77053-29B6-4368-A5A2-5E44837E8307}" dt="2026-04-19T22:28:34.020" v="0" actId="404"/>
        <pc:sldMkLst>
          <pc:docMk/>
          <pc:sldMk cId="0" sldId="260"/>
        </pc:sldMkLst>
        <pc:spChg chg="mod">
          <ac:chgData name="Jorge Gómez Azor" userId="8d7a26f6-b332-4d2d-b38c-a9f02fca3bc6" providerId="ADAL" clId="{77C77053-29B6-4368-A5A2-5E44837E8307}" dt="2026-04-19T22:28:34.020" v="0" actId="404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Jorge Gómez Azor" userId="8d7a26f6-b332-4d2d-b38c-a9f02fca3bc6" providerId="ADAL" clId="{77C77053-29B6-4368-A5A2-5E44837E8307}" dt="2026-04-19T22:31:55.353" v="30" actId="12789"/>
        <pc:sldMkLst>
          <pc:docMk/>
          <pc:sldMk cId="0" sldId="264"/>
        </pc:sldMkLst>
        <pc:spChg chg="mod">
          <ac:chgData name="Jorge Gómez Azor" userId="8d7a26f6-b332-4d2d-b38c-a9f02fca3bc6" providerId="ADAL" clId="{77C77053-29B6-4368-A5A2-5E44837E8307}" dt="2026-04-19T22:31:25.863" v="26" actId="12789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25.863" v="26" actId="12789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32.975" v="27" actId="12789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32.975" v="27" actId="12789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42.566" v="28" actId="12789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42.566" v="28" actId="12789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48.688" v="29" actId="12789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48.688" v="29" actId="12789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55.353" v="30" actId="12789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orge Gómez Azor" userId="8d7a26f6-b332-4d2d-b38c-a9f02fca3bc6" providerId="ADAL" clId="{77C77053-29B6-4368-A5A2-5E44837E8307}" dt="2026-04-19T22:31:55.353" v="30" actId="12789"/>
          <ac:spMkLst>
            <pc:docMk/>
            <pc:sldMk cId="0" sldId="264"/>
            <ac:spMk id="2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B"/>
                </a:solidFill>
                <a:latin typeface="Cambria"/>
              </a:defRPr>
            </a:pPr>
            <a:r>
              <a:rPr lang="es-ES" sz="1300" b="0" i="0" u="none" strike="noStrike">
                <a:solidFill>
                  <a:srgbClr val="1B263B"/>
                </a:solidFill>
                <a:latin typeface="Cambria"/>
              </a:rPr>
              <a:t>Métricas de identificación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Qwen2.5-VL-72B (HF)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63B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F1</c:v>
                </c:pt>
                <c:pt idx="1">
                  <c:v>Precisión</c:v>
                </c:pt>
                <c:pt idx="2">
                  <c:v>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0.82599999999999996</c:v>
                </c:pt>
                <c:pt idx="1">
                  <c:v>0.86</c:v>
                </c:pt>
                <c:pt idx="2">
                  <c:v>0.81699999999999995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02-4CA6-A8E0-D9A1D9B7A9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Llama-4-Scout (Groq)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63B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F1</c:v>
                </c:pt>
                <c:pt idx="1">
                  <c:v>Precisión</c:v>
                </c:pt>
                <c:pt idx="2">
                  <c:v>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0.75600000000000001</c:v>
                </c:pt>
                <c:pt idx="1">
                  <c:v>0.80700000000000005</c:v>
                </c:pt>
                <c:pt idx="2">
                  <c:v>0.72899999999999998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02-4CA6-A8E0-D9A1D9B7A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B"/>
                </a:solidFill>
                <a:latin typeface="Cambria"/>
              </a:defRPr>
            </a:pPr>
            <a:r>
              <a:rPr lang="es-ES" sz="1300" b="0" i="0" u="none" strike="noStrike">
                <a:solidFill>
                  <a:srgbClr val="1B263B"/>
                </a:solidFill>
                <a:latin typeface="Cambria"/>
              </a:rPr>
              <a:t>Evolución del MAE de calorías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% calorías</c:v>
                </c:pt>
              </c:strCache>
            </c:strRef>
          </c:tx>
          <c:spPr>
            <a:solidFill>
              <a:srgbClr val="E76F5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E6-491B-8857-07E12A3AE4E5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E6-491B-8857-07E12A3AE4E5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E6-491B-8857-07E12A3AE4E5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8E6-491B-8857-07E12A3AE4E5}"/>
              </c:ext>
            </c:extLst>
          </c:dPt>
          <c:dPt>
            <c:idx val="4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E6-491B-8857-07E12A3AE4E5}"/>
              </c:ext>
            </c:extLst>
          </c:dPt>
          <c:dPt>
            <c:idx val="5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8E6-491B-8857-07E12A3AE4E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63B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RAG
baseline</c:v>
                </c:pt>
                <c:pt idx="1">
                  <c:v>Tavily
web</c:v>
                </c:pt>
                <c:pt idx="2">
                  <c:v>USDA
+ gramos visión</c:v>
                </c:pt>
                <c:pt idx="3">
                  <c:v>USDA
+ tabla porciones</c:v>
                </c:pt>
                <c:pt idx="4">
                  <c:v>+ validación
fisiológica</c:v>
                </c:pt>
                <c:pt idx="5">
                  <c:v>+ aliases
(final)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233</c:v>
                </c:pt>
                <c:pt idx="1">
                  <c:v>266</c:v>
                </c:pt>
                <c:pt idx="2">
                  <c:v>243</c:v>
                </c:pt>
                <c:pt idx="3">
                  <c:v>241</c:v>
                </c:pt>
                <c:pt idx="4">
                  <c:v>68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8E6-491B-8857-07E12A3AE4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70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3657600"/>
            <a:ext cx="1463040" cy="1463040"/>
          </a:xfrm>
          <a:prstGeom prst="ellipse">
            <a:avLst/>
          </a:prstGeom>
          <a:solidFill>
            <a:srgbClr val="95D5B2">
              <a:alpha val="3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548640" y="4023360"/>
            <a:ext cx="1280160" cy="1280160"/>
          </a:xfrm>
          <a:prstGeom prst="ellipse">
            <a:avLst/>
          </a:prstGeom>
          <a:solidFill>
            <a:srgbClr val="E76F51">
              <a:alpha val="30000"/>
            </a:srgbClr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GENERATIVOS PROFUNDOS  ·  PROYECTO FINAL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NutriVision</a:t>
            </a:r>
            <a:endParaRPr lang="en-US" sz="700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multimodal de análisis nutricional por imagen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502920" y="3383280"/>
            <a:ext cx="109728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Gómez Azor</a:t>
            </a:r>
            <a:endParaRPr lang="en-US" sz="130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Kroll Merino</a:t>
            </a:r>
            <a:endParaRPr lang="en-US" sz="130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Mazuecos Reillo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502920" y="4526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Pontificia Comillas — ICAI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Inteligencia Artificial · Abril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lo que comemos sigue siendo difícil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3-7×</a:t>
            </a:r>
            <a:endParaRPr lang="en-US" sz="1000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típico al estimar calorías a ojo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1371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3-7 min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50292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comida con apps convencionales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023360" y="1325880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544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0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manual tedioso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cada alimento, ajustar porciones, repetir 3-5 veces al día.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4023360" y="2468880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6974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especializado</a:t>
            </a:r>
            <a:endParaRPr lang="en-US" sz="1400"/>
          </a:p>
        </p:txBody>
      </p:sp>
      <p:sp>
        <p:nvSpPr>
          <p:cNvPr id="17" name="Text 13"/>
          <p:cNvSpPr/>
          <p:nvPr/>
        </p:nvSpPr>
        <p:spPr>
          <a:xfrm>
            <a:off x="4846320" y="2971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Macronutrientes, equivalencias y métodos de cocción no son evidentes.</a:t>
            </a:r>
            <a:endParaRPr lang="en-US" sz="1050"/>
          </a:p>
        </p:txBody>
      </p:sp>
      <p:sp>
        <p:nvSpPr>
          <p:cNvPr id="18" name="Shape 14"/>
          <p:cNvSpPr/>
          <p:nvPr/>
        </p:nvSpPr>
        <p:spPr>
          <a:xfrm>
            <a:off x="4023360" y="3611880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8404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creciente</a:t>
            </a:r>
            <a:endParaRPr lang="en-US" sz="1400"/>
          </a:p>
        </p:txBody>
      </p:sp>
      <p:sp>
        <p:nvSpPr>
          <p:cNvPr id="21" name="Text 16"/>
          <p:cNvSpPr/>
          <p:nvPr/>
        </p:nvSpPr>
        <p:spPr>
          <a:xfrm>
            <a:off x="4846320" y="4114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 y enfermedades metabólicas siguen siendo un problema global de salud pública.</a:t>
            </a:r>
            <a:endParaRPr lang="en-US" sz="1050"/>
          </a:p>
        </p:txBody>
      </p:sp>
      <p:sp>
        <p:nvSpPr>
          <p:cNvPr id="22" name="Text 1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3" name="Text 1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SOLUCIÓN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foto. Un análisis nutricional completo.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recibe la imagen de un plato y devuelve macros, alérgenos y un informe personalizado al perfil del usuario.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9718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97180" y="192024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280160" y="2148840"/>
            <a:ext cx="731520" cy="731520"/>
          </a:xfrm>
          <a:prstGeom prst="ellipse">
            <a:avLst/>
          </a:prstGeom>
          <a:solidFill>
            <a:srgbClr val="95D5B2">
              <a:alpha val="4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7180" y="3017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43434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 del plato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48006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sube una imagen desde la web o el móvil.</a:t>
            </a:r>
            <a:endParaRPr lang="en-US" sz="105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92608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2326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3223260" y="192024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4206240" y="2148840"/>
            <a:ext cx="731520" cy="731520"/>
          </a:xfrm>
          <a:prstGeom prst="ellipse">
            <a:avLst/>
          </a:prstGeom>
          <a:solidFill>
            <a:srgbClr val="95D5B2">
              <a:alpha val="4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286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23260" y="3017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900"/>
          </a:p>
        </p:txBody>
      </p:sp>
      <p:sp>
        <p:nvSpPr>
          <p:cNvPr id="19" name="Text 14"/>
          <p:cNvSpPr/>
          <p:nvPr/>
        </p:nvSpPr>
        <p:spPr>
          <a:xfrm>
            <a:off x="336042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agentes</a:t>
            </a:r>
            <a:endParaRPr lang="en-US" sz="1600"/>
          </a:p>
        </p:txBody>
      </p:sp>
      <p:sp>
        <p:nvSpPr>
          <p:cNvPr id="20" name="Text 15"/>
          <p:cNvSpPr/>
          <p:nvPr/>
        </p:nvSpPr>
        <p:spPr>
          <a:xfrm>
            <a:off x="340614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+ nutrición estructurada + razonamiento, orquestado con LangGraph.</a:t>
            </a:r>
            <a:endParaRPr lang="en-US" sz="105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26080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934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7"/>
          <p:cNvSpPr/>
          <p:nvPr/>
        </p:nvSpPr>
        <p:spPr>
          <a:xfrm>
            <a:off x="6149340" y="192024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8"/>
          <p:cNvSpPr/>
          <p:nvPr/>
        </p:nvSpPr>
        <p:spPr>
          <a:xfrm>
            <a:off x="7132320" y="2148840"/>
            <a:ext cx="731520" cy="731520"/>
          </a:xfrm>
          <a:prstGeom prst="ellipse">
            <a:avLst/>
          </a:prstGeom>
          <a:solidFill>
            <a:srgbClr val="95D5B2">
              <a:alpha val="4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2860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49340" y="3017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900"/>
          </a:p>
        </p:txBody>
      </p:sp>
      <p:sp>
        <p:nvSpPr>
          <p:cNvPr id="27" name="Text 20"/>
          <p:cNvSpPr/>
          <p:nvPr/>
        </p:nvSpPr>
        <p:spPr>
          <a:xfrm>
            <a:off x="628650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personalizado</a:t>
            </a:r>
            <a:endParaRPr lang="en-US" sz="1600"/>
          </a:p>
        </p:txBody>
      </p:sp>
      <p:sp>
        <p:nvSpPr>
          <p:cNvPr id="28" name="Text 21"/>
          <p:cNvSpPr/>
          <p:nvPr/>
        </p:nvSpPr>
        <p:spPr>
          <a:xfrm>
            <a:off x="633222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Macros, encaje en el día y recomendaciones concretas para las próximas comidas.</a:t>
            </a:r>
            <a:endParaRPr lang="en-US" sz="1050"/>
          </a:p>
        </p:txBody>
      </p:sp>
      <p:sp>
        <p:nvSpPr>
          <p:cNvPr id="29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30" name="Text 2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secuencial orquestado con LangGraph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+ perfil del usuario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02920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+ macros estructurados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7830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224028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0292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</a:t>
            </a:r>
            <a:endParaRPr lang="en-US" sz="105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6746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06040" y="20116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2606040" y="2011680"/>
            <a:ext cx="17830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412" y="224028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06040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300"/>
          </a:p>
        </p:txBody>
      </p:sp>
      <p:sp>
        <p:nvSpPr>
          <p:cNvPr id="19" name="Text 14"/>
          <p:cNvSpPr/>
          <p:nvPr/>
        </p:nvSpPr>
        <p:spPr>
          <a:xfrm>
            <a:off x="265176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(eval.)</a:t>
            </a:r>
            <a:endParaRPr lang="en-US" sz="105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7462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20116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4754880" y="2011680"/>
            <a:ext cx="17830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252" y="224028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54880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 API</a:t>
            </a:r>
            <a:endParaRPr lang="en-US" sz="1300"/>
          </a:p>
        </p:txBody>
      </p:sp>
      <p:sp>
        <p:nvSpPr>
          <p:cNvPr id="25" name="Text 18"/>
          <p:cNvSpPr/>
          <p:nvPr/>
        </p:nvSpPr>
        <p:spPr>
          <a:xfrm>
            <a:off x="480060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estructurados</a:t>
            </a:r>
            <a:endParaRPr lang="en-US" sz="105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74620"/>
            <a:ext cx="182880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903720" y="20116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0"/>
          <p:cNvSpPr/>
          <p:nvPr/>
        </p:nvSpPr>
        <p:spPr>
          <a:xfrm>
            <a:off x="6903720" y="2011680"/>
            <a:ext cx="17830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092" y="2240280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03720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</a:t>
            </a:r>
            <a:endParaRPr lang="en-US" sz="1300"/>
          </a:p>
        </p:txBody>
      </p:sp>
      <p:sp>
        <p:nvSpPr>
          <p:cNvPr id="31" name="Text 22"/>
          <p:cNvSpPr/>
          <p:nvPr/>
        </p:nvSpPr>
        <p:spPr>
          <a:xfrm>
            <a:off x="694944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050"/>
          </a:p>
        </p:txBody>
      </p:sp>
      <p:sp>
        <p:nvSpPr>
          <p:cNvPr id="32" name="Shape 23"/>
          <p:cNvSpPr/>
          <p:nvPr/>
        </p:nvSpPr>
        <p:spPr>
          <a:xfrm>
            <a:off x="502920" y="3657600"/>
            <a:ext cx="8183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31920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8016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AgentState (Pydantic)</a:t>
            </a:r>
            <a:endParaRPr lang="en-US" sz="1300"/>
          </a:p>
        </p:txBody>
      </p:sp>
      <p:sp>
        <p:nvSpPr>
          <p:cNvPr id="35" name="Text 25"/>
          <p:cNvSpPr/>
          <p:nvPr/>
        </p:nvSpPr>
        <p:spPr>
          <a:xfrm>
            <a:off x="1280160" y="4041648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compartido por todos los nodos: imagen base64, perfil del usuario, ingredientes detectados, datos USDA + RAG y el informe final. Tipado fuerte en cada salto.</a:t>
            </a:r>
            <a:endParaRPr lang="en-US" sz="1050"/>
          </a:p>
        </p:txBody>
      </p:sp>
      <p:sp>
        <p:nvSpPr>
          <p:cNvPr id="36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37" name="Text 2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NODO DE VISIÓN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de ingredientes con cadena de fallback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749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 del nodo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todos los ingredientes visibles —incluidos aceites, salsas y guarniciones.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tamaño de cada porción en una de cuatro categorías cualitativas.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JSON estructurado validado con Pydantic.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85800" y="374904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85800" y="377647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1554480" y="374904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554480" y="377647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2423160" y="374904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423160" y="377647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3291840" y="374904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0" y="377647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10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×2.0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434840" y="1280160"/>
            <a:ext cx="4251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46177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de fallback (modelos gratuitos)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4617720" y="1938528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4617720" y="19659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512064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2.5-VL-72B-Instruct</a:t>
            </a:r>
            <a:endParaRPr lang="en-US" sz="1300"/>
          </a:p>
        </p:txBody>
      </p:sp>
      <p:sp>
        <p:nvSpPr>
          <p:cNvPr id="22" name="Text 19"/>
          <p:cNvSpPr/>
          <p:nvPr/>
        </p:nvSpPr>
        <p:spPr>
          <a:xfrm>
            <a:off x="5120640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· principal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4617720" y="2715768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617720" y="2743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Llama-4-Scout-17B-16E</a:t>
            </a:r>
            <a:endParaRPr lang="en-US" sz="1300"/>
          </a:p>
        </p:txBody>
      </p:sp>
      <p:sp>
        <p:nvSpPr>
          <p:cNvPr id="26" name="Text 23"/>
          <p:cNvSpPr/>
          <p:nvPr/>
        </p:nvSpPr>
        <p:spPr>
          <a:xfrm>
            <a:off x="512064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fallback (14.4k req/día)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4617720" y="3493008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4617720" y="35204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/>
          </a:p>
        </p:txBody>
      </p:sp>
      <p:sp>
        <p:nvSpPr>
          <p:cNvPr id="29" name="Text 26"/>
          <p:cNvSpPr/>
          <p:nvPr/>
        </p:nvSpPr>
        <p:spPr>
          <a:xfrm>
            <a:off x="5120640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2.0 Flash</a:t>
            </a:r>
            <a:endParaRPr lang="en-US" sz="1300"/>
          </a:p>
        </p:txBody>
      </p:sp>
      <p:sp>
        <p:nvSpPr>
          <p:cNvPr id="30" name="Text 27"/>
          <p:cNvSpPr/>
          <p:nvPr/>
        </p:nvSpPr>
        <p:spPr>
          <a:xfrm>
            <a:off x="512064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· fallback alterno</a:t>
            </a:r>
            <a:endParaRPr lang="en-US" sz="100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16052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98348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proveedor falla o agota cuota → se intenta el siguiente automáticamente.</a:t>
            </a:r>
            <a:endParaRPr lang="en-US" sz="1000"/>
          </a:p>
        </p:txBody>
      </p:sp>
      <p:sp>
        <p:nvSpPr>
          <p:cNvPr id="33" name="Text 2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34" name="Text 3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DECISIÓN DE DISEÑO · 1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el tamaño en lugar de estimar gramos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91440" cy="3108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gramos al modelo de visión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trataba cada ingrediente como una porción independiente, no como parte de un plato compartido.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Sobreestimaciones sistemáticas de 3-7× respecto al ground truth.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prompt y normalizar post-hoc reducía el MAE solo un 7 %.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3657600" cy="594360"/>
          </a:xfrm>
          <a:prstGeom prst="rect">
            <a:avLst/>
          </a:prstGeom>
          <a:solidFill>
            <a:srgbClr val="FCEAE6"/>
          </a:solidFill>
          <a:ln w="12700">
            <a:solidFill>
              <a:srgbClr val="FCEA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calorías ≈ 243 %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91440" cy="3108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49834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cualitativa + tabla de pesos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4983480" y="20574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solo elige una etiqueta: small / normal / large / extra.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gramos absolutos los aporta una tabla de pesos estándar (&gt;80 entradas, fuente USDA).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responsabilidades: lo que el modelo hace bien (clasificar) vs. lo que hace mal (estimar gramos).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983480" y="3611880"/>
            <a:ext cx="3657600" cy="594360"/>
          </a:xfrm>
          <a:prstGeom prst="rect">
            <a:avLst/>
          </a:prstGeom>
          <a:solidFill>
            <a:srgbClr val="DDF1E5"/>
          </a:solidFill>
          <a:ln w="12700">
            <a:solidFill>
              <a:srgbClr val="DDF1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calorías → 68 %</a:t>
            </a:r>
            <a:endParaRPr lang="en-US" sz="160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2628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" y="4526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más impactante de todo el proceso: separar clasificación cualitativa (modelo) de cuantificación (tabla).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DECISIÓN DE DISEÑO · 2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fuentes de datos nutricionales evaluadas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42900" y="118872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2900" y="1188720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25980" y="1371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2598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Insuficiente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07492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local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507492" y="1719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300 alimentos USDA · all-MiniLM-L6-v2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07492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07492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latencia ni coste de API.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07492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07492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insuficiente (sin emmental, prosciutto, açaí). Fallos cuando la nomenclatura del modelo difiere.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07492" y="4069080"/>
            <a:ext cx="2331720" cy="384048"/>
          </a:xfrm>
          <a:prstGeom prst="rect">
            <a:avLst/>
          </a:prstGeom>
          <a:solidFill>
            <a:srgbClr val="FCEAE6"/>
          </a:solidFill>
          <a:ln w="12700">
            <a:solidFill>
              <a:srgbClr val="FCEA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7492" y="4069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233 %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3223260" y="118872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23260" y="1188720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006340" y="1371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0634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Inadecuado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387852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web search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3387852" y="1719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la web + extracción por regex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387852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3387852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virtualmente ilimitada.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387852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387852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textos web mezclan unidades (por porción / 100 g / % VD). La extracción produce errores críticos.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3387852" y="4069080"/>
            <a:ext cx="2331720" cy="384048"/>
          </a:xfrm>
          <a:prstGeom prst="rect">
            <a:avLst/>
          </a:prstGeom>
          <a:solidFill>
            <a:srgbClr val="FCEAE6"/>
          </a:solidFill>
          <a:ln w="12700">
            <a:solidFill>
              <a:srgbClr val="FCEA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87852" y="4069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266 %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6103620" y="118872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103620" y="118872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886700" y="1371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88670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6268212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 FoodData Central</a:t>
            </a:r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6268212" y="1719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· datasets Foundation y SR Legacy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268212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6268212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estructurados por 100 g sin ambigüedad. Gratuita e ilimitada.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268212" y="2971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6268212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normalización de nombres y validación fisiológica (ver siguiente slide).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6268212" y="4069080"/>
            <a:ext cx="2331720" cy="384048"/>
          </a:xfrm>
          <a:prstGeom prst="rect">
            <a:avLst/>
          </a:prstGeom>
          <a:solidFill>
            <a:srgbClr val="DDF1E5"/>
          </a:solidFill>
          <a:ln w="12700">
            <a:solidFill>
              <a:srgbClr val="DDF1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68212" y="4069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32 %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NODO USDA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USDA: aliases y validación fisiológica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aliases (&gt;50 entradas)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del modelo de visión → query USDA precisa.</a:t>
            </a:r>
            <a:endParaRPr lang="en-US" sz="105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3794760" cy="18592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dice…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USDA query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6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scrambled eggs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D6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egg whole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6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cooked oatmeal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D6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oatmeal cooked water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6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roasted salmon fillet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D6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salmon atlantic cooked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6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mozzarella cheese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D6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cheese mozzarella whole milk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B26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acai bowl base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D6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acai berry</a:t>
                      </a:r>
                      <a:endParaRPr lang="en-US" sz="10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8580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alias → eliminar modificadores (diced, roasted, sliced, …) para acercarse a la nomenclatura USDA.</a:t>
            </a:r>
            <a:endParaRPr lang="en-US" sz="1000"/>
          </a:p>
        </p:txBody>
      </p:sp>
      <p:sp>
        <p:nvSpPr>
          <p:cNvPr id="11" name="Shape 7"/>
          <p:cNvSpPr/>
          <p:nvPr/>
        </p:nvSpPr>
        <p:spPr>
          <a:xfrm>
            <a:off x="4846320" y="1234440"/>
            <a:ext cx="3840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límites fisiológicos</a:t>
            </a:r>
            <a:endParaRPr lang="en-US" sz="1400"/>
          </a:p>
        </p:txBody>
      </p:sp>
      <p:sp>
        <p:nvSpPr>
          <p:cNvPr id="14" name="Text 9"/>
          <p:cNvSpPr/>
          <p:nvPr/>
        </p:nvSpPr>
        <p:spPr>
          <a:xfrm>
            <a:off x="5029200" y="17556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entradas USDA reportan kJ en vez de kcal o son concentrados imposibles. Sin filtros → predicciones absurdas.</a:t>
            </a:r>
            <a:endParaRPr lang="en-US" sz="105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45973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≤ 900 kcal / 100 g (referencia: aceite puro ≈ 884)</a:t>
            </a:r>
            <a:endParaRPr lang="en-US" sz="105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4378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28072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macronutriente &gt; 100 g / 100 g</a:t>
            </a:r>
            <a:endParaRPr lang="en-US" sz="105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27832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3520" y="31912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explícitamente unidades KCAL vs KJ (factor 4,184)</a:t>
            </a:r>
            <a:endParaRPr lang="en-US" sz="1050"/>
          </a:p>
        </p:txBody>
      </p:sp>
      <p:sp>
        <p:nvSpPr>
          <p:cNvPr id="21" name="Shape 13"/>
          <p:cNvSpPr/>
          <p:nvPr/>
        </p:nvSpPr>
        <p:spPr>
          <a:xfrm>
            <a:off x="5029200" y="3703320"/>
            <a:ext cx="3520440" cy="841248"/>
          </a:xfrm>
          <a:prstGeom prst="rect">
            <a:avLst/>
          </a:prstGeom>
          <a:solidFill>
            <a:srgbClr val="DDF1E5"/>
          </a:solidFill>
          <a:ln w="12700">
            <a:solidFill>
              <a:srgbClr val="DDF1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4"/>
          <p:cNvSpPr/>
          <p:nvPr/>
        </p:nvSpPr>
        <p:spPr>
          <a:xfrm>
            <a:off x="516636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MAE 68 % → 32 %</a:t>
            </a:r>
            <a:endParaRPr lang="en-US" sz="1200"/>
          </a:p>
          <a:p>
            <a:pPr marL="0" indent="0">
              <a:buNone/>
            </a:pPr>
            <a:r>
              <a:rPr lang="en-US" sz="1000" i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detectábamos 5.138 kcal en una ración de salmón con guarnición.</a:t>
            </a:r>
            <a:endParaRPr lang="en-US" sz="1200"/>
          </a:p>
        </p:txBody>
      </p:sp>
      <p:sp>
        <p:nvSpPr>
          <p:cNvPr id="23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4" name="Text 1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NODO DE RAZONAMIENTO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personalizado al perfil metabólico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1148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53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del objetivo calórico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8580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+ nivel de actividad + objetivo: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685800" y="2121408"/>
            <a:ext cx="374904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68680" y="221284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 =  10·w + 6.25·h − 5·a + s</a:t>
            </a:r>
            <a:endParaRPr lang="en-US" sz="1150"/>
          </a:p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 = +5 (♂) | −161 (♀)</a:t>
            </a: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TDEE =  BMR × k_actividad</a:t>
            </a:r>
            <a:endParaRPr lang="en-US" sz="1150"/>
          </a:p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k ∈ [1.2 ; 1.9]</a:t>
            </a: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1B2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=  TDEE ± Δ</a:t>
            </a:r>
            <a:endParaRPr lang="en-US" sz="1150"/>
          </a:p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Δ ∈ {−400, 0, +300} kcal</a:t>
            </a:r>
            <a:endParaRPr lang="en-US" sz="115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Objetivo calórico personalizado en kcal/día.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68580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razonador: Qwen2.5-7B-Instruct (HuggingFace).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4800600" y="1234440"/>
            <a:ext cx="3886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71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del prompt</a:t>
            </a:r>
            <a:endParaRPr lang="en-US" sz="1400"/>
          </a:p>
        </p:txBody>
      </p:sp>
      <p:sp>
        <p:nvSpPr>
          <p:cNvPr id="16" name="Shape 12"/>
          <p:cNvSpPr/>
          <p:nvPr/>
        </p:nvSpPr>
        <p:spPr>
          <a:xfrm>
            <a:off x="4983480" y="188366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5257800" y="1783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—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sexo, peso, altura, actividad, alergias.</a:t>
            </a:r>
            <a:endParaRPr lang="en-US" sz="1100"/>
          </a:p>
        </p:txBody>
      </p:sp>
      <p:sp>
        <p:nvSpPr>
          <p:cNvPr id="18" name="Shape 14"/>
          <p:cNvSpPr/>
          <p:nvPr/>
        </p:nvSpPr>
        <p:spPr>
          <a:xfrm>
            <a:off x="4983480" y="224942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5257800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—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actual, ya registradas y restantes.</a:t>
            </a:r>
            <a:endParaRPr lang="en-US" sz="1100"/>
          </a:p>
        </p:txBody>
      </p:sp>
      <p:sp>
        <p:nvSpPr>
          <p:cNvPr id="20" name="Shape 16"/>
          <p:cNvSpPr/>
          <p:nvPr/>
        </p:nvSpPr>
        <p:spPr>
          <a:xfrm>
            <a:off x="4983480" y="261518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25780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—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consumidos antes de esta comida.</a:t>
            </a:r>
            <a:endParaRPr lang="en-US" sz="1100"/>
          </a:p>
        </p:txBody>
      </p:sp>
      <p:sp>
        <p:nvSpPr>
          <p:cNvPr id="22" name="Shape 18"/>
          <p:cNvSpPr/>
          <p:nvPr/>
        </p:nvSpPr>
        <p:spPr>
          <a:xfrm>
            <a:off x="4983480" y="298094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525780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comida —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ingredientes + totales.</a:t>
            </a:r>
            <a:endParaRPr lang="en-US" sz="1100"/>
          </a:p>
        </p:txBody>
      </p:sp>
      <p:sp>
        <p:nvSpPr>
          <p:cNvPr id="24" name="Shape 20"/>
          <p:cNvSpPr/>
          <p:nvPr/>
        </p:nvSpPr>
        <p:spPr>
          <a:xfrm>
            <a:off x="4983480" y="334670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5257800" y="3246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—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 restantes después de esta comida.</a:t>
            </a:r>
            <a:endParaRPr lang="en-US" sz="1100"/>
          </a:p>
        </p:txBody>
      </p:sp>
      <p:sp>
        <p:nvSpPr>
          <p:cNvPr id="26" name="Shape 22"/>
          <p:cNvSpPr/>
          <p:nvPr/>
        </p:nvSpPr>
        <p:spPr>
          <a:xfrm>
            <a:off x="4983480" y="3931920"/>
            <a:ext cx="3611880" cy="502920"/>
          </a:xfrm>
          <a:prstGeom prst="rect">
            <a:avLst/>
          </a:prstGeom>
          <a:solidFill>
            <a:srgbClr val="FFF5EC"/>
          </a:solidFill>
          <a:ln w="12700">
            <a:solidFill>
              <a:srgbClr val="FFF5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074920" y="3931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Recomendaciones SOLO para las comidas que aún quedan (no las pasadas).</a:t>
            </a:r>
            <a:endParaRPr lang="en-US" sz="1050"/>
          </a:p>
        </p:txBody>
      </p:sp>
      <p:sp>
        <p:nvSpPr>
          <p:cNvPr id="28" name="Text 2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9" name="Text 2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APLICACIÓN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Streamlit con seguimiento diario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502920" cy="502920"/>
          </a:xfrm>
          <a:prstGeom prst="ellipse">
            <a:avLst/>
          </a:prstGeom>
          <a:solidFill>
            <a:srgbClr val="95D5B2">
              <a:alpha val="5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indexado por email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1188720" y="1609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simple; perfil persistente entre sesiones.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502920" y="2029968"/>
            <a:ext cx="502920" cy="502920"/>
          </a:xfrm>
          <a:prstGeom prst="ellipse">
            <a:avLst/>
          </a:prstGeom>
          <a:solidFill>
            <a:srgbClr val="95D5B2">
              <a:alpha val="5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1396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002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diario de macros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1188720" y="2286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Calorías, proteínas, carbos y grasa acumulados hoy.</a:t>
            </a:r>
            <a:endParaRPr lang="en-US" sz="1050"/>
          </a:p>
        </p:txBody>
      </p:sp>
      <p:sp>
        <p:nvSpPr>
          <p:cNvPr id="13" name="Shape 9"/>
          <p:cNvSpPr/>
          <p:nvPr/>
        </p:nvSpPr>
        <p:spPr>
          <a:xfrm>
            <a:off x="502920" y="2706624"/>
            <a:ext cx="502920" cy="502920"/>
          </a:xfrm>
          <a:prstGeom prst="ellipse">
            <a:avLst/>
          </a:prstGeom>
          <a:solidFill>
            <a:srgbClr val="95D5B2">
              <a:alpha val="5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8163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679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tipos de comida</a:t>
            </a:r>
            <a:endParaRPr lang="en-US" sz="1300"/>
          </a:p>
        </p:txBody>
      </p:sp>
      <p:sp>
        <p:nvSpPr>
          <p:cNvPr id="16" name="Text 11"/>
          <p:cNvSpPr/>
          <p:nvPr/>
        </p:nvSpPr>
        <p:spPr>
          <a:xfrm>
            <a:off x="1188720" y="2962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Desayuno, almuerzo, comida, merienda, cena.</a:t>
            </a:r>
            <a:endParaRPr lang="en-US" sz="1050"/>
          </a:p>
        </p:txBody>
      </p:sp>
      <p:sp>
        <p:nvSpPr>
          <p:cNvPr id="17" name="Shape 12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95D5B2">
              <a:alpha val="5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49300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355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Visualizaciones interactivas</a:t>
            </a:r>
            <a:endParaRPr lang="en-US" sz="1300"/>
          </a:p>
        </p:txBody>
      </p:sp>
      <p:sp>
        <p:nvSpPr>
          <p:cNvPr id="20" name="Text 14"/>
          <p:cNvSpPr/>
          <p:nvPr/>
        </p:nvSpPr>
        <p:spPr>
          <a:xfrm>
            <a:off x="1188720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Plotly + tabla de desglose nutricional.</a:t>
            </a:r>
            <a:endParaRPr lang="en-US" sz="1050"/>
          </a:p>
        </p:txBody>
      </p:sp>
      <p:sp>
        <p:nvSpPr>
          <p:cNvPr id="21" name="Shape 15"/>
          <p:cNvSpPr/>
          <p:nvPr/>
        </p:nvSpPr>
        <p:spPr>
          <a:xfrm>
            <a:off x="502920" y="4059936"/>
            <a:ext cx="502920" cy="502920"/>
          </a:xfrm>
          <a:prstGeom prst="ellipse">
            <a:avLst/>
          </a:prstGeom>
          <a:solidFill>
            <a:srgbClr val="95D5B2">
              <a:alpha val="5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16966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4032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00"/>
          </a:p>
        </p:txBody>
      </p:sp>
      <p:sp>
        <p:nvSpPr>
          <p:cNvPr id="24" name="Text 17"/>
          <p:cNvSpPr/>
          <p:nvPr/>
        </p:nvSpPr>
        <p:spPr>
          <a:xfrm>
            <a:off x="1188720" y="4315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users y meal_logs. Histórico de 30 días.</a:t>
            </a:r>
            <a:endParaRPr lang="en-US" sz="1050"/>
          </a:p>
        </p:txBody>
      </p:sp>
      <p:sp>
        <p:nvSpPr>
          <p:cNvPr id="25" name="Shape 18"/>
          <p:cNvSpPr/>
          <p:nvPr/>
        </p:nvSpPr>
        <p:spPr>
          <a:xfrm>
            <a:off x="5212080" y="123444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5212080" y="1234440"/>
            <a:ext cx="35204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0"/>
          <p:cNvSpPr/>
          <p:nvPr/>
        </p:nvSpPr>
        <p:spPr>
          <a:xfrm>
            <a:off x="5349240" y="1298448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1"/>
          <p:cNvSpPr/>
          <p:nvPr/>
        </p:nvSpPr>
        <p:spPr>
          <a:xfrm>
            <a:off x="5513832" y="1298448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2"/>
          <p:cNvSpPr/>
          <p:nvPr/>
        </p:nvSpPr>
        <p:spPr>
          <a:xfrm>
            <a:off x="5678424" y="1298448"/>
            <a:ext cx="118872" cy="118872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3"/>
          <p:cNvSpPr/>
          <p:nvPr/>
        </p:nvSpPr>
        <p:spPr>
          <a:xfrm>
            <a:off x="5989320" y="1271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nutrivision.app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534924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NutriVision</a:t>
            </a:r>
            <a:endParaRPr lang="en-US" sz="1400"/>
          </a:p>
        </p:txBody>
      </p:sp>
      <p:sp>
        <p:nvSpPr>
          <p:cNvPr id="32" name="Text 25"/>
          <p:cNvSpPr/>
          <p:nvPr/>
        </p:nvSpPr>
        <p:spPr>
          <a:xfrm>
            <a:off x="534924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del día</a:t>
            </a:r>
            <a:endParaRPr lang="en-US" sz="950"/>
          </a:p>
        </p:txBody>
      </p:sp>
      <p:sp>
        <p:nvSpPr>
          <p:cNvPr id="33" name="Shape 26"/>
          <p:cNvSpPr/>
          <p:nvPr/>
        </p:nvSpPr>
        <p:spPr>
          <a:xfrm>
            <a:off x="5349240" y="2212848"/>
            <a:ext cx="3246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27"/>
          <p:cNvSpPr/>
          <p:nvPr/>
        </p:nvSpPr>
        <p:spPr>
          <a:xfrm>
            <a:off x="5349240" y="2212848"/>
            <a:ext cx="1920240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28"/>
          <p:cNvSpPr/>
          <p:nvPr/>
        </p:nvSpPr>
        <p:spPr>
          <a:xfrm>
            <a:off x="5349240" y="24231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1.180 / 2.000 kcal</a:t>
            </a:r>
            <a:endParaRPr lang="en-US" sz="900"/>
          </a:p>
        </p:txBody>
      </p:sp>
      <p:sp>
        <p:nvSpPr>
          <p:cNvPr id="36" name="Shape 29"/>
          <p:cNvSpPr/>
          <p:nvPr/>
        </p:nvSpPr>
        <p:spPr>
          <a:xfrm>
            <a:off x="5349240" y="2743200"/>
            <a:ext cx="100584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0"/>
          <p:cNvSpPr/>
          <p:nvPr/>
        </p:nvSpPr>
        <p:spPr>
          <a:xfrm>
            <a:off x="534924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850"/>
          </a:p>
        </p:txBody>
      </p:sp>
      <p:sp>
        <p:nvSpPr>
          <p:cNvPr id="38" name="Text 31"/>
          <p:cNvSpPr/>
          <p:nvPr/>
        </p:nvSpPr>
        <p:spPr>
          <a:xfrm>
            <a:off x="5349240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g</a:t>
            </a:r>
            <a:endParaRPr lang="en-US" sz="1600"/>
          </a:p>
        </p:txBody>
      </p:sp>
      <p:sp>
        <p:nvSpPr>
          <p:cNvPr id="39" name="Shape 32"/>
          <p:cNvSpPr/>
          <p:nvPr/>
        </p:nvSpPr>
        <p:spPr>
          <a:xfrm>
            <a:off x="6464808" y="2743200"/>
            <a:ext cx="100584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3"/>
          <p:cNvSpPr/>
          <p:nvPr/>
        </p:nvSpPr>
        <p:spPr>
          <a:xfrm>
            <a:off x="6464808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Carbos</a:t>
            </a:r>
            <a:endParaRPr lang="en-US" sz="850"/>
          </a:p>
        </p:txBody>
      </p:sp>
      <p:sp>
        <p:nvSpPr>
          <p:cNvPr id="41" name="Text 34"/>
          <p:cNvSpPr/>
          <p:nvPr/>
        </p:nvSpPr>
        <p:spPr>
          <a:xfrm>
            <a:off x="6464808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g</a:t>
            </a:r>
            <a:endParaRPr lang="en-US" sz="1600"/>
          </a:p>
        </p:txBody>
      </p:sp>
      <p:sp>
        <p:nvSpPr>
          <p:cNvPr id="42" name="Shape 35"/>
          <p:cNvSpPr/>
          <p:nvPr/>
        </p:nvSpPr>
        <p:spPr>
          <a:xfrm>
            <a:off x="7580376" y="2743200"/>
            <a:ext cx="100584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36"/>
          <p:cNvSpPr/>
          <p:nvPr/>
        </p:nvSpPr>
        <p:spPr>
          <a:xfrm>
            <a:off x="7580376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Grasa</a:t>
            </a:r>
            <a:endParaRPr lang="en-US" sz="850"/>
          </a:p>
        </p:txBody>
      </p:sp>
      <p:sp>
        <p:nvSpPr>
          <p:cNvPr id="44" name="Text 37"/>
          <p:cNvSpPr/>
          <p:nvPr/>
        </p:nvSpPr>
        <p:spPr>
          <a:xfrm>
            <a:off x="7580376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g</a:t>
            </a:r>
            <a:endParaRPr lang="en-US" sz="1600"/>
          </a:p>
        </p:txBody>
      </p:sp>
      <p:sp>
        <p:nvSpPr>
          <p:cNvPr id="45" name="Shape 38"/>
          <p:cNvSpPr/>
          <p:nvPr/>
        </p:nvSpPr>
        <p:spPr>
          <a:xfrm>
            <a:off x="5349240" y="374904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39"/>
          <p:cNvSpPr/>
          <p:nvPr/>
        </p:nvSpPr>
        <p:spPr>
          <a:xfrm>
            <a:off x="534924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📷  Analizar plato</a:t>
            </a:r>
            <a:endParaRPr lang="en-US" sz="1300"/>
          </a:p>
        </p:txBody>
      </p:sp>
      <p:sp>
        <p:nvSpPr>
          <p:cNvPr id="47" name="Text 40"/>
          <p:cNvSpPr/>
          <p:nvPr/>
        </p:nvSpPr>
        <p:spPr>
          <a:xfrm>
            <a:off x="5349240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 en la landing page →</a:t>
            </a:r>
            <a:endParaRPr lang="en-US" sz="950"/>
          </a:p>
        </p:txBody>
      </p:sp>
      <p:sp>
        <p:nvSpPr>
          <p:cNvPr id="48" name="Text 4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49" name="Text 4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EVALUACIÓN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métricas de evaluación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42900" y="12344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42900" y="1280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000"/>
          </a:p>
        </p:txBody>
      </p:sp>
      <p:sp>
        <p:nvSpPr>
          <p:cNvPr id="7" name="Text 5"/>
          <p:cNvSpPr/>
          <p:nvPr/>
        </p:nvSpPr>
        <p:spPr>
          <a:xfrm>
            <a:off x="166878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PLATOS REALES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66878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anotados a mano con recetas verificadas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223260" y="12344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23260" y="1280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000"/>
          </a:p>
        </p:txBody>
      </p:sp>
      <p:sp>
        <p:nvSpPr>
          <p:cNvPr id="11" name="Text 9"/>
          <p:cNvSpPr/>
          <p:nvPr/>
        </p:nvSpPr>
        <p:spPr>
          <a:xfrm>
            <a:off x="454914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54914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desayunos · mediterráneos · proteicos · internacionales · bowls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103620" y="12344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03620" y="1280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800"/>
          </a:p>
        </p:txBody>
      </p:sp>
      <p:sp>
        <p:nvSpPr>
          <p:cNvPr id="15" name="Text 13"/>
          <p:cNvSpPr/>
          <p:nvPr/>
        </p:nvSpPr>
        <p:spPr>
          <a:xfrm>
            <a:off x="742950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742950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etiquetados con peso en gramos por ingrediente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0292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calculadas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42900" y="315468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42900" y="3154680"/>
            <a:ext cx="73152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2578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25780" y="35478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Recall, F1 con matching difuso (eliminando stopwords de cocción).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491740" y="315468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491740" y="3154680"/>
            <a:ext cx="73152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67462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Porciones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674620" y="35478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gramos para ingredientes correctamente identificados.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640580" y="315468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40580" y="3154680"/>
            <a:ext cx="73152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346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4823460" y="35478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absoluto y porcentual: calorías, proteínas, carbos y grasa.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789420" y="315468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789420" y="3154680"/>
            <a:ext cx="73152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97230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Latencia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6972300" y="35478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extremo a extremo por imagen.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RESULTADOS · 1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Identificación: F1, precisión y recall</a:t>
            </a:r>
            <a:endParaRPr lang="en-US" sz="260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29260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Lecturas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5943600" y="173736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Qwen2.5-VL-72B supera al fallback en todas las métricas.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medio: 0,826 vs 0,756 (Llama-4-Scout).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de porciones: 21,2 g vs 37,9 g.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evaluación final todo recayó en Groq por agotamiento de créditos de HuggingFace.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RESULTADOS · 2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243 % a 32 %: cómo bajamos el error en calorías</a:t>
            </a:r>
            <a:endParaRPr lang="en-US" sz="260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234440"/>
            <a:ext cx="22860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537960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palancas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537960" y="1783080"/>
            <a:ext cx="2011680" cy="8686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6537960" y="1783080"/>
            <a:ext cx="54864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675120" y="1874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fisiológica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6675120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68 % → 32 %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6537960" y="2743200"/>
            <a:ext cx="2011680" cy="8686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37960" y="2743200"/>
            <a:ext cx="54864" cy="86868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67512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porciones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667512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243 % → 68 %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6537960" y="3703320"/>
            <a:ext cx="2011680" cy="8686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537960" y="3703320"/>
            <a:ext cx="54864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67512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 aliases</a:t>
            </a:r>
            <a:endParaRPr lang="en-US" sz="1100"/>
          </a:p>
        </p:txBody>
      </p:sp>
      <p:sp>
        <p:nvSpPr>
          <p:cNvPr id="19" name="Text 16"/>
          <p:cNvSpPr/>
          <p:nvPr/>
        </p:nvSpPr>
        <p:spPr>
          <a:xfrm>
            <a:off x="6675120" y="4087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 afinación final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RESULTADOS · 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USDA: comparación final</a:t>
            </a:r>
            <a:endParaRPr lang="en-US" sz="26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5440680" cy="21945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(abs)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(%)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USDA (abs)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USDA (%)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Calorías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1.567 kcal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kcal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Proteína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Carbohidratos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89,3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39,5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 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media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 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 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234440"/>
            <a:ext cx="2514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228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 cuantitativa</a:t>
            </a:r>
            <a:endParaRPr lang="en-US" sz="1300"/>
          </a:p>
        </p:txBody>
      </p:sp>
      <p:sp>
        <p:nvSpPr>
          <p:cNvPr id="9" name="Text 5"/>
          <p:cNvSpPr/>
          <p:nvPr/>
        </p:nvSpPr>
        <p:spPr>
          <a:xfrm>
            <a:off x="626364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32 %</a:t>
            </a:r>
            <a:endParaRPr lang="en-US" sz="5600"/>
          </a:p>
        </p:txBody>
      </p:sp>
      <p:sp>
        <p:nvSpPr>
          <p:cNvPr id="10" name="Text 6"/>
          <p:cNvSpPr/>
          <p:nvPr/>
        </p:nvSpPr>
        <p:spPr>
          <a:xfrm>
            <a:off x="626364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final en calorías</a:t>
            </a:r>
            <a:endParaRPr lang="en-US" sz="1100"/>
          </a:p>
        </p:txBody>
      </p:sp>
      <p:sp>
        <p:nvSpPr>
          <p:cNvPr id="11" name="Shape 7"/>
          <p:cNvSpPr/>
          <p:nvPr/>
        </p:nvSpPr>
        <p:spPr>
          <a:xfrm>
            <a:off x="6720840" y="32461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>
            <a:off x="63550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gana en todas las métricas excepto latencia (3× más lento que RAG, pero compensa con creces en precisión).</a:t>
            </a: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14" name="Text 1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ANÁLISIS CRÍTICO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outliers concentran el error residual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42900" y="11887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2900" y="1188720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" y="1353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Salmón con guarnición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0749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</a:t>
            </a: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 kcal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 </a:t>
            </a:r>
            <a:r>
              <a:rPr lang="en-US" sz="110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kcal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0749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−73 %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507492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‘salmon fillet’ sin prefijo ‘roasted’ no activa el alias y recupera un alimento incorrecto.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23260" y="11887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23260" y="1188720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87852" y="1353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 de açaí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38785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</a:t>
            </a: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 kcal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 </a:t>
            </a:r>
            <a:r>
              <a:rPr lang="en-US" sz="110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669 kcal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38785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+58 %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387852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acumulado en 7 ingredientes; granola y açaí tienen densidades calóricas altas.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103620" y="11887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103620" y="1188720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268212" y="1353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Macarrones con carne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26821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</a:t>
            </a: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kcal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 </a:t>
            </a:r>
            <a:r>
              <a:rPr lang="en-US" sz="110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1.259 kcal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26821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+79 %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268212" y="2816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‘penne pasta’ recupera pasta seca (357 kcal/100 g) en vez de cocida (158).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83880" cy="9601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3776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Excluyendo estos 3 outliers el MAE bajaría a ≈ 19 %, comparable a apps comerciales.</a:t>
            </a:r>
            <a:endParaRPr lang="en-US" sz="1300"/>
          </a:p>
        </p:txBody>
      </p:sp>
      <p:sp>
        <p:nvSpPr>
          <p:cNvPr id="26" name="Text 23"/>
          <p:cNvSpPr/>
          <p:nvPr/>
        </p:nvSpPr>
        <p:spPr>
          <a:xfrm>
            <a:off x="114300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dependencia del proveedor disponible, fotografía 2D sin profundidad, no diferencia preparaciones (cruda/cocida) salvo si hay alias.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28" name="Text 2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ESCALABILIDAD &amp; ROI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 por análisis y retorno económico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42900" y="11887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2900" y="118872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42900" y="1325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0,0002 €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342900" y="1965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ANÁLISIS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2578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+ razonamiento + USDA (gratis)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223260" y="11887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23260" y="118872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23260" y="1325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3223260" y="1965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 MIN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40614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una consulta con nutricionista (50-80 €)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6103620" y="11887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103620" y="1188720"/>
            <a:ext cx="269748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03620" y="1325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94 %</a:t>
            </a:r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6103620" y="19659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28650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SaaS con 1.000 usuarios a 4,99 €/mes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50292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a producción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342900" y="3200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333756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154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525780" y="3703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o HF Spaces. Para alto volumen: Redis + Celery + Postgres.</a:t>
            </a:r>
            <a:endParaRPr lang="en-US" sz="1000"/>
          </a:p>
        </p:txBody>
      </p:sp>
      <p:sp>
        <p:nvSpPr>
          <p:cNvPr id="25" name="Shape 22"/>
          <p:cNvSpPr/>
          <p:nvPr/>
        </p:nvSpPr>
        <p:spPr>
          <a:xfrm>
            <a:off x="2491740" y="3200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20" y="333756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04038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1200"/>
          </a:p>
        </p:txBody>
      </p:sp>
      <p:sp>
        <p:nvSpPr>
          <p:cNvPr id="28" name="Text 24"/>
          <p:cNvSpPr/>
          <p:nvPr/>
        </p:nvSpPr>
        <p:spPr>
          <a:xfrm>
            <a:off x="2674620" y="3703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 pago en Groq (~28 €/mes, 14.4k req/día) o GPU propia con Qwen2.5-VL-7B.</a:t>
            </a:r>
            <a:endParaRPr lang="en-US" sz="1000"/>
          </a:p>
        </p:txBody>
      </p:sp>
      <p:sp>
        <p:nvSpPr>
          <p:cNvPr id="29" name="Shape 25"/>
          <p:cNvSpPr/>
          <p:nvPr/>
        </p:nvSpPr>
        <p:spPr>
          <a:xfrm>
            <a:off x="4640580" y="3200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333756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8922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</a:t>
            </a:r>
            <a:endParaRPr lang="en-US" sz="1200"/>
          </a:p>
        </p:txBody>
      </p:sp>
      <p:sp>
        <p:nvSpPr>
          <p:cNvPr id="32" name="Text 27"/>
          <p:cNvSpPr/>
          <p:nvPr/>
        </p:nvSpPr>
        <p:spPr>
          <a:xfrm>
            <a:off x="4823460" y="3703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no almacenadas (stateless). RGPD para uso clínico.</a:t>
            </a:r>
            <a:endParaRPr lang="en-US" sz="1000"/>
          </a:p>
        </p:txBody>
      </p:sp>
      <p:sp>
        <p:nvSpPr>
          <p:cNvPr id="33" name="Shape 28"/>
          <p:cNvSpPr/>
          <p:nvPr/>
        </p:nvSpPr>
        <p:spPr>
          <a:xfrm>
            <a:off x="6789420" y="3200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333756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3806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 continua</a:t>
            </a:r>
            <a:endParaRPr lang="en-US" sz="1200"/>
          </a:p>
        </p:txBody>
      </p:sp>
      <p:sp>
        <p:nvSpPr>
          <p:cNvPr id="36" name="Text 30"/>
          <p:cNvSpPr/>
          <p:nvPr/>
        </p:nvSpPr>
        <p:spPr>
          <a:xfrm>
            <a:off x="6972300" y="3703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aliases en YAML versionado, ampliable con fallos detectados en producción.</a:t>
            </a:r>
            <a:endParaRPr lang="en-US" sz="1000"/>
          </a:p>
        </p:txBody>
      </p:sp>
      <p:sp>
        <p:nvSpPr>
          <p:cNvPr id="37" name="Text 3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NutriVision  ·  MGP  ·  Comillas ICAI</a:t>
            </a:r>
            <a:endParaRPr lang="en-US" sz="900"/>
          </a:p>
        </p:txBody>
      </p:sp>
      <p:sp>
        <p:nvSpPr>
          <p:cNvPr id="38" name="Text 3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05840"/>
            <a:ext cx="2286000" cy="22860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955280" y="3657600"/>
            <a:ext cx="1828800" cy="1828800"/>
          </a:xfrm>
          <a:prstGeom prst="ellipse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lecciones del proceso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42900" y="16002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2578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525780" y="2377440"/>
            <a:ext cx="73152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2578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tareas por capacidad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525780" y="3154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estimación libre de gramos por modelos de visión es inestable. Reemplazarla por clasificación cualitativa + tabla de referencia es radicalmente más robusto.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223260" y="16002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061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3406140" y="2377440"/>
            <a:ext cx="73152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0614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estructuradas &gt; web scraping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3406140" y="3154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fuentes web son inadecuadas para datos nutricionales por la ambigüedad de unidades. Las APIs estructuradas (USDA) son preferibles cuando existen.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103620" y="16002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865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/>
          </a:p>
        </p:txBody>
      </p:sp>
      <p:sp>
        <p:nvSpPr>
          <p:cNvPr id="18" name="Shape 16"/>
          <p:cNvSpPr/>
          <p:nvPr/>
        </p:nvSpPr>
        <p:spPr>
          <a:xfrm>
            <a:off x="6286500" y="2377440"/>
            <a:ext cx="73152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28650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Normalizar antes que perfeccionar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286500" y="3154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impactante en una API estructurada no es la precisión de los datos, sino el matching del nombre del alimento.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 ·  Preguntas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cd2701c-aa9b-4d12-ba20-f3e3b83070c1}" enabled="0" method="" siteId="{bcd2701c-aa9b-4d12-ba20-f3e3b83070c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Pontificia Comillas — ICAI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NutriVision — Agente Multimodal de Análisis Nutricional</dc:title>
  <dc:subject>PptxGenJS Presentation</dc:subject>
  <dc:creator>Gómez · Kroll · Mazuecos</dc:creator>
  <cp:revision>1</cp:revision>
  <dcterms:created xsi:type="dcterms:W3CDTF">2026-04-19T22:20:45Z</dcterms:created>
  <dcterms:modified xsi:type="dcterms:W3CDTF">2026-04-19T22:32:03Z</dcterms:modified>
</cp:coreProperties>
</file>